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Uma frase: o FordCare parte de uma ideia simples — o histórico de manutenção deveria pertencer ao carro, não ao dono.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números vêm do material da própria Ford. Ancoram o problema em dado do parceiro, não em achismo nosso.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mercado real não é o zero quilômetro: é a frota velha que troca de mãos o tempo todo. É aí que o pós-venda vive.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fricções. A quarta — descontínuo — é a que ninguém está tratando, e é para onde vamos no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 do pitch: a troca de dono é um evento de perda de VIN Share que o modelo de dados de todo mundo ignora.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responde por que agora: sem produção local, a rede Ford vive do pós-venda — e a retenção está caindo no mundo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tese em uma frase. Tudo o que vem depois existe para sustentar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pilar responde textualmente a um dos três pontos que a Ford levantou na avaliação da versão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tela: 5 serviços, 1 ano de histórico, 80% na rede oficial. A transferência entre contas ainda não está implementada — está no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loop é o argumento econômico: o histórico não é um registro, é um ativo que se paga na revenda e devolve o cliente para a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Honestidade importa aqui: camadas 1 e 2 estão no app hoje. A camada 3 é a integração com o modelo de ML da outra disciplina, prevista para a próxima fase.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perfil não muda só o texto da mensagem: muda a oferta. Esse é o diferencial em relação a um chatbot.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card à esquerda é a reprodução literal do que está na tela à direita. Nenhum número foi escrito à mão.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o lead proativo que a Ford pediu, entregue dentro do celular do cliente, sem infraestrutura nova.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narrativa não está no README, está no produto: três telas onde o cliente entende por que a rede oficial vale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da prova técnica: nada aqui é promessa. 101 testes verdes, 91% de cobertura, 22 telas no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roadmap, não entrega. O ponto: o lead para a concessionária já está calculado dentro do app — falta só abrir o outro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A transferência de propriedade é o próximo passo concreto e é o que fecha o ciclo do VIN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apoio: fica no arquivo enviado, não precisa ser lido na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 CORPORATIVO · FIAP × FORD · SETEMBRO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677095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0820095" cy="0"/>
          </a:xfrm>
          <a:prstGeom prst="line">
            <a:avLst/>
          </a:prstGeom>
          <a:noFill/>
          <a:ln w="9525">
            <a:solidFill>
              <a:srgbClr val="2A43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-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indent="0" marL="0">
              <a:buNone/>
            </a:pPr>
            <a:r>
              <a:rPr lang="en-US" sz="8000" b="1" spc="-300" kern="0" dirty="0">
                <a:solidFill>
                  <a:srgbClr val="6FA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685800" y="3310128"/>
            <a:ext cx="914400" cy="502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611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histórico pertence ao carro.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volta para a rede.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7278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Gustavo Alves 557876 · Gabriel Dias 556830 · Gabriel Galerani 557421 · Pedro Paulo 554880 · Leonardo Taschin 554583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9128455" y="6272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5E7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9BFZH54P8M8123456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DADO QUE ABRE O PROBLEMA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677095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0820095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969264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experiência de serviço decide</a:t>
            </a:r>
            <a:endParaRPr lang="en-US" sz="3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2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próxima compra.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517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-30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7600" dirty="0"/>
          </a:p>
        </p:txBody>
      </p:sp>
      <p:sp>
        <p:nvSpPr>
          <p:cNvPr id="7" name="Shape 5"/>
          <p:cNvSpPr/>
          <p:nvPr/>
        </p:nvSpPr>
        <p:spPr>
          <a:xfrm>
            <a:off x="685800" y="3913632"/>
            <a:ext cx="4206240" cy="82296"/>
          </a:xfrm>
          <a:prstGeom prst="rect">
            <a:avLst/>
          </a:prstGeom>
          <a:solidFill>
            <a:srgbClr val="D7DCE5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913632"/>
            <a:ext cx="3491179" cy="82296"/>
          </a:xfrm>
          <a:prstGeom prst="rect">
            <a:avLst/>
          </a:prstGeom>
          <a:solidFill>
            <a:srgbClr val="133A7C"/>
          </a:solidFill>
          <a:ln w="12700">
            <a:solidFill>
              <a:srgbClr val="133A7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1605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clientes com boa experiência em serviços comprariam outro veículo da mesma marca.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26517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-30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7600" dirty="0"/>
          </a:p>
        </p:txBody>
      </p:sp>
      <p:sp>
        <p:nvSpPr>
          <p:cNvPr id="11" name="Shape 9"/>
          <p:cNvSpPr/>
          <p:nvPr/>
        </p:nvSpPr>
        <p:spPr>
          <a:xfrm>
            <a:off x="6080760" y="3913632"/>
            <a:ext cx="4206240" cy="82296"/>
          </a:xfrm>
          <a:prstGeom prst="rect">
            <a:avLst/>
          </a:prstGeom>
          <a:solidFill>
            <a:srgbClr val="D7DCE5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3913632"/>
            <a:ext cx="3364992" cy="822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80760" y="41605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trocam de concessionária se puderem ter uma experiência melhor.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7278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FONTE: NADA 2023 — DADO APRESENTADO PELA PRÓPRIA FORD NO BRIEFING DO DESAFIO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TAMANHO DO MERCADO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677095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0820095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969264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carro usado é o mercado.</a:t>
            </a:r>
            <a:endParaRPr lang="en-US" sz="3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2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zero quilômetro é a exceção.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4320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-16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46,1 mi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118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automóveis e comerciais leves na frota brasileira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3708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spc="90" kern="0" dirty="0">
                <a:solidFill>
                  <a:srgbClr val="8794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SINDIPEÇAS · BASE 2025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172968" y="2788920"/>
            <a:ext cx="0" cy="178308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83864" y="274320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-16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11a 5m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3483864" y="36118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média dos automóveis em circulação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483864" y="43708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spc="90" kern="0" dirty="0">
                <a:solidFill>
                  <a:srgbClr val="8794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SINDIPEÇAS · BASE 2025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971032" y="2788920"/>
            <a:ext cx="0" cy="178308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1928" y="274320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-16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 : 1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6281928" y="36118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usados vendidos para cada zero quilômetro: 11,7 milhões contra 2,5 milhões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281928" y="43708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spc="90" kern="0" dirty="0">
                <a:solidFill>
                  <a:srgbClr val="8794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FENABRAVE · 2024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769096" y="2788920"/>
            <a:ext cx="0" cy="178308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79992" y="274320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-16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em 4</a:t>
            </a:r>
            <a:endParaRPr lang="en-US" sz="4200" dirty="0"/>
          </a:p>
        </p:txBody>
      </p:sp>
      <p:sp>
        <p:nvSpPr>
          <p:cNvPr id="19" name="Text 17"/>
          <p:cNvSpPr txBox="1"/>
          <p:nvPr/>
        </p:nvSpPr>
        <p:spPr>
          <a:xfrm>
            <a:off x="9079992" y="36118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 da frota que mudam de dono ao longo de um ano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079992" y="43708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spc="90" kern="0" dirty="0">
                <a:solidFill>
                  <a:srgbClr val="8794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CÁLCULO SOBRE FENABRAVE E SINDIPEÇAS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627278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FROTA É VELHA, TROCA DE MÃOS O TEMPO TODO — E É NELA QUE O PÓS-VENDA ACONTECE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ONDE A FORD PERDE O CLIENTE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677095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0820095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969264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perda não acontece na venda.</a:t>
            </a:r>
            <a:endParaRPr lang="en-US" sz="3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2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Acontece depois dela.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2788920"/>
            <a:ext cx="484632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8986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5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Reativo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5584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só procura a rede quando o problema já aconteceu. Quem avisa primeiro ganha a visita.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2788920"/>
            <a:ext cx="484632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28986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5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Burocrático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335584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espalhados entre nota fiscal, carimbo no manual e memória do dono.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572000"/>
            <a:ext cx="484632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6817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5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Invisível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13892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mil oficinas independentes atendem cerca de 80% da frota. Nada disso chega à Ford.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09360" y="4572000"/>
            <a:ext cx="484632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46817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5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Descontínuo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513892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revenda o histórico morre com o dono anterior, e o carro recomeça do zero.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VAZAMENTO INVISÍVEL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677095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0820095" cy="0"/>
          </a:xfrm>
          <a:prstGeom prst="line">
            <a:avLst/>
          </a:prstGeom>
          <a:noFill/>
          <a:ln w="9525">
            <a:solidFill>
              <a:srgbClr val="2A43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969264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troca de dono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uma perda de VIN Share.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3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2024 o Brasil vendeu 11,7 milhões de automóveis e comerciais leves usados contra 2,5 milhões de zero quilômetro. Cada uma dessas transações é um VIN que segue no parque circulante da Ford — e um dono novo que chega sem histórico, sem relação com concessionária nenhuma, e escolhe a oficina mais barata.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4800600"/>
            <a:ext cx="10820095" cy="0"/>
          </a:xfrm>
          <a:prstGeom prst="line">
            <a:avLst/>
          </a:prstGeom>
          <a:noFill/>
          <a:ln w="12700">
            <a:solidFill>
              <a:srgbClr val="2A43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474573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5074920"/>
            <a:ext cx="18896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0 km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422392"/>
            <a:ext cx="18896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 ativo na rede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94955" y="474573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49819" y="5074920"/>
            <a:ext cx="18896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Revisões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49819" y="5422392"/>
            <a:ext cx="18896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Histórico crescendo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36114" y="4722876"/>
            <a:ext cx="155448" cy="1554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13838" y="5074920"/>
            <a:ext cx="18896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 de dono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13838" y="5422392"/>
            <a:ext cx="18896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Ruptura do histórico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22993" y="474573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77857" y="5074920"/>
            <a:ext cx="18896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dono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77857" y="5422392"/>
            <a:ext cx="18896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histórico · oficina barata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287012" y="474573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41876" y="5074920"/>
            <a:ext cx="18896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 perdido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41876" y="5422392"/>
            <a:ext cx="18896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Vazamento que ninguém mede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QUE A FORD, E POR QUE AGORA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677095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0820095" cy="0"/>
          </a:xfrm>
          <a:prstGeom prst="line">
            <a:avLst/>
          </a:prstGeom>
          <a:noFill/>
          <a:ln w="9525">
            <a:solidFill>
              <a:srgbClr val="2A43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969264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Ford não fabrica mais aqui.</a:t>
            </a:r>
            <a:endParaRPr lang="en-US" sz="3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2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relação agora é o pós-venda.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5394960" cy="0"/>
          </a:xfrm>
          <a:prstGeom prst="line">
            <a:avLst/>
          </a:prstGeom>
          <a:noFill/>
          <a:ln w="9525">
            <a:solidFill>
              <a:srgbClr val="2A43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75234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78892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6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ano de produção de veículos da Ford no Brasil. O que continua é a base instalada e a rede.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566160"/>
            <a:ext cx="5394960" cy="0"/>
          </a:xfrm>
          <a:prstGeom prst="line">
            <a:avLst/>
          </a:prstGeom>
          <a:noFill/>
          <a:ln w="9525">
            <a:solidFill>
              <a:srgbClr val="2A43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7124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374904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6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concessionárias Ford no país, cuja receita recorrente depende de serviço, peça e retorno do cliente.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526280"/>
            <a:ext cx="5394960" cy="0"/>
          </a:xfrm>
          <a:prstGeom prst="line">
            <a:avLst/>
          </a:prstGeom>
          <a:noFill/>
          <a:ln w="9525">
            <a:solidFill>
              <a:srgbClr val="2A43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6725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470916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6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frota de leves era Ford em 2021 — milhões de VINs que a rede só alcança se o cliente voltar.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5486400"/>
            <a:ext cx="5394960" cy="0"/>
          </a:xfrm>
          <a:prstGeom prst="line">
            <a:avLst/>
          </a:prstGeom>
          <a:noFill/>
          <a:ln w="9525">
            <a:solidFill>
              <a:srgbClr val="2A43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2560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b="1" spc="90" kern="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RETENÇÃO NA CONCESSIONÁRIA ONDE O CARRO FOI COMPRADO · VEÍCULOS DE ATÉ 2 ANOS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3154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spc="110" kern="0" dirty="0">
                <a:solidFill>
                  <a:srgbClr val="B6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3081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720840" y="3611880"/>
            <a:ext cx="4800600" cy="118872"/>
          </a:xfrm>
          <a:prstGeom prst="rect">
            <a:avLst/>
          </a:prstGeom>
          <a:solidFill>
            <a:srgbClr val="1E3765"/>
          </a:solidFill>
          <a:ln w="12700">
            <a:solidFill>
              <a:srgbClr val="1E376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3611880"/>
            <a:ext cx="3456432" cy="118872"/>
          </a:xfrm>
          <a:prstGeom prst="rect">
            <a:avLst/>
          </a:prstGeom>
          <a:solidFill>
            <a:srgbClr val="6FA0F5"/>
          </a:solidFill>
          <a:ln w="12700">
            <a:solidFill>
              <a:srgbClr val="6FA0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20840" y="4069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spc="110" kern="0" dirty="0">
                <a:solidFill>
                  <a:srgbClr val="B6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3995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720840" y="4526280"/>
            <a:ext cx="4800600" cy="118872"/>
          </a:xfrm>
          <a:prstGeom prst="rect">
            <a:avLst/>
          </a:prstGeom>
          <a:solidFill>
            <a:srgbClr val="1E3765"/>
          </a:solidFill>
          <a:ln w="12700">
            <a:solidFill>
              <a:srgbClr val="1E376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4526280"/>
            <a:ext cx="2592324" cy="1188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0840" y="50292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90" kern="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COX AUTOMOTIVE SERVICE INDUSTRY STUDY · EUA · 2025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53949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C3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74% de quem faz serviço na concessionária compra o próximo carro no mesmo lugar. A rede não perde só a revisão — perde a próxima venda.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TESE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677095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0820095" cy="0"/>
          </a:xfrm>
          <a:prstGeom prst="line">
            <a:avLst/>
          </a:prstGeom>
          <a:noFill/>
          <a:ln w="9525">
            <a:solidFill>
              <a:srgbClr val="2A43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spc="-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se o histórico pertencesse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spc="-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carro, e não ao dono?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9776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3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FordCare transforma o histórico de manutenção em um ativo que pertence ao veículo — e usa esse ativo para trazer o cliente de volta à rede oficial antes que ele procure a oficina da esquina.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SOLUÇÃO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677095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0820095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969264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pilares, um para cada ponto</a:t>
            </a:r>
            <a:endParaRPr lang="en-US" sz="3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2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levantado pela Ford.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2697480"/>
            <a:ext cx="338328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4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spc="11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RESPONDE A · HISTÓRICO APÓS TROCA DE DONO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56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4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Passaporte do Veículo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913632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histórico técnico é ancorado no chassi. Serviços, datas, quilometragem e concessionária seguem o carro, não a conta de quem o dirige hoje.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697480"/>
            <a:ext cx="338328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4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6344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spc="110" kern="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RESPONDE A · SUGESTÃO PERSONALIZADA POR IA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456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4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Copiloto FordCare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913632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recomendação priorizada por vez, calculada do histórico real do veículo, com o motivo explícito e o agendamento a um toque.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2697480"/>
            <a:ext cx="338328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4">
                <a:alpha val="1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6676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spc="11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RESPONDE A · CONTAR MELHOR A IDEIA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3456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4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Narrativa no produto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913632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entende dentro do app por que a rede oficial vale mais — antes do login e toda vez que abre o perfil.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01 · PASSAPORTE DO VEÍCULO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677095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0820095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969264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carro carrega a memória técnica.</a:t>
            </a:r>
            <a:endParaRPr lang="en-US" sz="27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7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pessoa carrega a identidade dela.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2514600"/>
            <a:ext cx="740664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706624"/>
            <a:ext cx="73152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2606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3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por chassi com validação offline: 17 caracteres, padrão ISO 3779, sem as letras I, O e Q.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191256"/>
            <a:ext cx="740664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383280"/>
            <a:ext cx="73152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3544" y="328269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3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histórico é do VIN — cada serviço entra na linha do tempo do veículo, dentro ou fora da rede.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867912"/>
            <a:ext cx="740664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059936"/>
            <a:ext cx="73152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" y="395935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3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de continuidade no topo: serviços, anos de histórico e percentual feito na rede oficial.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544568"/>
            <a:ext cx="740664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736592"/>
            <a:ext cx="73152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3544" y="463600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3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"Compartilhar passaporte" gera o resumo para mandar ao comprador na hora da venda.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221224"/>
            <a:ext cx="740664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440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4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histórico pertence ao chassi, não à conta.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63940" y="1165860"/>
            <a:ext cx="2334320" cy="4892040"/>
          </a:xfrm>
          <a:prstGeom prst="roundRect">
            <a:avLst>
              <a:gd name="adj" fmla="val 5484"/>
            </a:avLst>
          </a:prstGeom>
          <a:solidFill>
            <a:srgbClr val="0B1A34"/>
          </a:solidFill>
          <a:ln w="6350">
            <a:solidFill>
              <a:srgbClr val="0B1A34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4">
                <a:alpha val="16000"/>
              </a:srgbClr>
            </a:outerShdw>
          </a:effectLst>
        </p:spPr>
      </p:sp>
      <p:pic>
        <p:nvPicPr>
          <p:cNvPr id="21" name="Image 0" descr="img/passapor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234440"/>
            <a:ext cx="2197160" cy="475488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85800" y="627278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 REAL DO APLICATIVO · TRANSFERÊNCIA DE PROPRIEDADE ENTRE CONTAS ENTRA NA FASE 03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QUE ISSO É NEGÓCIO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677095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0820095" cy="0"/>
          </a:xfrm>
          <a:prstGeom prst="line">
            <a:avLst/>
          </a:prstGeom>
          <a:noFill/>
          <a:ln w="9525">
            <a:solidFill>
              <a:srgbClr val="2A43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969264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VIN Share de hoje financia</a:t>
            </a:r>
            <a:endParaRPr lang="en-US" sz="3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4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VIN Share do próximo dono.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9572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3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 com histórico rastreável na rede vale mais na revenda. Isso dá ao dono atual um motivo imediato e egoísta para não fugir para a oficina não autorizada: ele está construindo o valor do próprio carro a cada serviço.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3886200"/>
            <a:ext cx="3200400" cy="0"/>
          </a:xfrm>
          <a:prstGeom prst="line">
            <a:avLst/>
          </a:prstGeom>
          <a:noFill/>
          <a:ln w="12700">
            <a:solidFill>
              <a:srgbClr val="2A43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4023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DONO ATUAL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315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Constrói valor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754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6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serviço na rede entra no passaporte e sustenta o preço de revenda.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4206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26280" y="3886200"/>
            <a:ext cx="3200400" cy="0"/>
          </a:xfrm>
          <a:prstGeom prst="line">
            <a:avLst/>
          </a:prstGeom>
          <a:noFill/>
          <a:ln w="12700">
            <a:solidFill>
              <a:srgbClr val="2A43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4023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COMPRADOR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4315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Herda o histórico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4754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6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no app com um veículo conhecido e a próxima revisão já calculada.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4206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66760" y="3886200"/>
            <a:ext cx="3200400" cy="0"/>
          </a:xfrm>
          <a:prstGeom prst="line">
            <a:avLst/>
          </a:prstGeom>
          <a:noFill/>
          <a:ln w="12700">
            <a:solidFill>
              <a:srgbClr val="2A43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4023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 FORD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4315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frio vira quente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4754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6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um VIN que some do radar, uma visita agendada.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627278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CICLO RECOMEÇA NO PRÓXIMO DONO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02 · COPILOTO FORDCARE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677095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0820095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96926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não decide. Ela explica.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separação em camadas é o que garante que a demonstração nunca quebra: os números saem sempre de cálculo determinístico, nunca de um modelo generativo.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338328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4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133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 01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3273552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spc="-4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Sinais do veículo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41832" y="3977640"/>
            <a:ext cx="2871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Quilometragem atual, ritmo de uso em km por mês derivado do histórico, alertas vencidos e a vencer, dias desde o último serviço na rede.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41832" y="52303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APP · OFFLINE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389120" y="2743200"/>
            <a:ext cx="338328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4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45152" y="29718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133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 02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3273552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spc="-4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Priorização explicável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45152" y="3977640"/>
            <a:ext cx="2871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declarados em código produzem uma recomendação principal auditável, com o motivo que a justifica. Roda sem rede.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45152" y="52303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APP · OFFLINE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092440" y="2743200"/>
            <a:ext cx="3383280" cy="2880360"/>
          </a:xfrm>
          <a:prstGeom prst="rect">
            <a:avLst/>
          </a:prstGeom>
          <a:solidFill>
            <a:srgbClr val="F5F6F8"/>
          </a:solidFill>
          <a:ln w="12700">
            <a:solidFill>
              <a:srgbClr val="C8102E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8348472" y="29718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CAMADA 03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348472" y="3273552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spc="-4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Redação em linguagem natural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48472" y="3977640"/>
            <a:ext cx="2871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borda recebe os sinais já calculados e devolve um parágrafo. Não decide, não inventa número — e se falhar, o texto determinístico assume sem o usuário perceber.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48472" y="52303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PLANEJADA · FUNÇÃO DE BORDA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 · SEGMENTAÇÃO DE CLIENTES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677095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0820095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969264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perfil muda a estratégia,</a:t>
            </a:r>
            <a:endParaRPr lang="en-US" sz="3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2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só o texto.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974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26974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ESTRATÉGIA PREVISTA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3017520"/>
            <a:ext cx="10820095" cy="0"/>
          </a:xfrm>
          <a:prstGeom prst="line">
            <a:avLst/>
          </a:prstGeom>
          <a:noFill/>
          <a:ln w="12700">
            <a:solidFill>
              <a:srgbClr val="133A7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1821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5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321868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Reconhecimento, benefício de nível e convite para indicar.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767328"/>
            <a:ext cx="10820095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931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5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Econômico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96849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 pacote na frente, com comparativo de custo total.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517136"/>
            <a:ext cx="10820095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6817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5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Esquecido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471830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 no momento certo e agendamento em dois toques.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5266944"/>
            <a:ext cx="10820095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4315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5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Abandono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54681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de reconquista com prova de valor: peça original e garantia.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6016752"/>
            <a:ext cx="10820095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627278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PERFIS VÊM DA SEGMENTAÇÃO K-MEANS TREINADA PELA EQUIPE DE ML — INTEGRAÇÃO PREVISTA PARA A FASE 03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ISSO CHEGA AO CLIENTE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677095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0820095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969264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recomendação por vez,</a:t>
            </a:r>
            <a:endParaRPr lang="en-US" sz="27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7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motivo explícito.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2651760"/>
            <a:ext cx="74066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4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69848" y="2907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COPILOTO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321868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6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Geral vencida no seu Ranger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3703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Vencida há 35 dias. Você roda cerca de 850 km por mês. Toque para agendar na rede oficial e ganhar 200 pts.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69848" y="42793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1 item pendente — dá para resolver na mesma visita.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69848" y="4626864"/>
            <a:ext cx="658368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9848" y="471830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Agendar revisão geral  →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63940" y="1165860"/>
            <a:ext cx="2334320" cy="4892040"/>
          </a:xfrm>
          <a:prstGeom prst="roundRect">
            <a:avLst>
              <a:gd name="adj" fmla="val 5484"/>
            </a:avLst>
          </a:prstGeom>
          <a:solidFill>
            <a:srgbClr val="0B1A34"/>
          </a:solidFill>
          <a:ln w="6350">
            <a:solidFill>
              <a:srgbClr val="0B1A34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4">
                <a:alpha val="16000"/>
              </a:srgbClr>
            </a:outerShdw>
          </a:effectLst>
        </p:spPr>
      </p:sp>
      <p:pic>
        <p:nvPicPr>
          <p:cNvPr id="14" name="Image 0" descr="img/copil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234440"/>
            <a:ext cx="2197160" cy="47548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85800" y="627278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RANGER 2021 · 41.200 KM · OS 35 DIAS E OS 850 KM/MÊS SÃO CALCULADOS DO HISTÓRICO, NÃO GERADOS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LEAD PROATIVO, NO BOLSO DO CLIENTE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677095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0820095" cy="0"/>
          </a:xfrm>
          <a:prstGeom prst="line">
            <a:avLst/>
          </a:prstGeom>
          <a:noFill/>
          <a:ln w="9525">
            <a:solidFill>
              <a:srgbClr val="2A43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969264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proativo entregue</a:t>
            </a:r>
            <a:endParaRPr lang="en-US" sz="3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2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custo de infraestrutura.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3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cálculo que monta o card da Home agenda o lembrete no aparelho: uma semana antes do alerta vencer, às dez da manhã, no máximo dois por vez. A rede recebe um agendamento antes do problema.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749040"/>
            <a:ext cx="6035040" cy="0"/>
          </a:xfrm>
          <a:prstGeom prst="line">
            <a:avLst/>
          </a:prstGeom>
          <a:noFill/>
          <a:ln w="9525">
            <a:solidFill>
              <a:srgbClr val="2A43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931920"/>
            <a:ext cx="73152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23544" y="384048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Antecedência de 7 dias sobre o alerta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297680"/>
            <a:ext cx="6035040" cy="0"/>
          </a:xfrm>
          <a:prstGeom prst="line">
            <a:avLst/>
          </a:prstGeom>
          <a:noFill/>
          <a:ln w="9525">
            <a:solidFill>
              <a:srgbClr val="2A43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4480560"/>
            <a:ext cx="73152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23544" y="438912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de 2 lembretes agendados por vez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846320"/>
            <a:ext cx="6035040" cy="0"/>
          </a:xfrm>
          <a:prstGeom prst="line">
            <a:avLst/>
          </a:prstGeom>
          <a:noFill/>
          <a:ln w="9525">
            <a:solidFill>
              <a:srgbClr val="2A43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5029200"/>
            <a:ext cx="73152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3544" y="493776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abre o agendamento com o serviço já marcado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5394960"/>
            <a:ext cx="6035040" cy="0"/>
          </a:xfrm>
          <a:prstGeom prst="line">
            <a:avLst/>
          </a:prstGeom>
          <a:noFill/>
          <a:ln w="9525">
            <a:solidFill>
              <a:srgbClr val="2A43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5240" y="2788920"/>
            <a:ext cx="38862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4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882128" y="299923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33A7C"/>
          </a:solidFill>
          <a:ln w="12700">
            <a:solidFill>
              <a:srgbClr val="133A7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30" kern="0" dirty="0">
                <a:solidFill>
                  <a:srgbClr val="133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FORDCARE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0" y="29809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882128" y="334670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Geral vencida no seu Ranger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882128" y="36941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Vencida há 35 dias. Toque para agendar na rede oficial e ganhar 200 pts.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4526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notificação local · expo-notifications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03 · A NARRATIVA VIVE DENTRO DO APP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677095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0820095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969264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indicador que a Ford chama de VIN Share,</a:t>
            </a:r>
            <a:endParaRPr lang="en-US" sz="2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5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lê como valor do próprio carro.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664501" y="2034540"/>
            <a:ext cx="1425879" cy="2926080"/>
          </a:xfrm>
          <a:prstGeom prst="roundRect">
            <a:avLst>
              <a:gd name="adj" fmla="val 8978"/>
            </a:avLst>
          </a:prstGeom>
          <a:solidFill>
            <a:srgbClr val="0B1A34"/>
          </a:solidFill>
          <a:ln w="6350">
            <a:solidFill>
              <a:srgbClr val="0B1A34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4">
                <a:alpha val="16000"/>
              </a:srgbClr>
            </a:outerShdw>
          </a:effectLst>
        </p:spPr>
      </p:sp>
      <p:pic>
        <p:nvPicPr>
          <p:cNvPr id="7" name="Image 0" descr="img/onb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3081" y="2103120"/>
            <a:ext cx="1288719" cy="2788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5138928"/>
            <a:ext cx="338328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2303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ONBOARDING · ANTES DO LOGIN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54864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5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oficina barata sai cara"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581558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original, garantia e histórico — a promessa aparece antes de qualquer cadastro.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367821" y="2034540"/>
            <a:ext cx="1425879" cy="2926080"/>
          </a:xfrm>
          <a:prstGeom prst="roundRect">
            <a:avLst>
              <a:gd name="adj" fmla="val 8978"/>
            </a:avLst>
          </a:prstGeom>
          <a:solidFill>
            <a:srgbClr val="0B1A34"/>
          </a:solidFill>
          <a:ln w="6350">
            <a:solidFill>
              <a:srgbClr val="0B1A34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4">
                <a:alpha val="16000"/>
              </a:srgbClr>
            </a:outerShdw>
          </a:effectLst>
        </p:spPr>
      </p:sp>
      <p:pic>
        <p:nvPicPr>
          <p:cNvPr id="13" name="Image 1" descr="img/onb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401" y="2103120"/>
            <a:ext cx="1288719" cy="27889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89120" y="5138928"/>
            <a:ext cx="338328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389120" y="52303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ONBOARDING · O GANHO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4389120" y="54864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5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e revenda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389120" y="581558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benefício do cliente e o interesse da rede na mesma frase.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9071141" y="2034540"/>
            <a:ext cx="1425879" cy="2926080"/>
          </a:xfrm>
          <a:prstGeom prst="roundRect">
            <a:avLst>
              <a:gd name="adj" fmla="val 8978"/>
            </a:avLst>
          </a:prstGeom>
          <a:solidFill>
            <a:srgbClr val="0B1A34"/>
          </a:solidFill>
          <a:ln w="6350">
            <a:solidFill>
              <a:srgbClr val="0B1A34"/>
            </a:solidFill>
            <a:prstDash val="solid"/>
          </a:ln>
          <a:effectLst>
            <a:outerShdw sx="100000" sy="100000" kx="0" ky="0" algn="bl" rotWithShape="0" blurRad="228600" dist="76200" dir="5400000">
              <a:srgbClr val="0B1A34">
                <a:alpha val="16000"/>
              </a:srgbClr>
            </a:outerShdw>
          </a:effectLst>
        </p:spPr>
      </p:sp>
      <p:pic>
        <p:nvPicPr>
          <p:cNvPr id="19" name="Image 2" descr="img/perfi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9721" y="2103120"/>
            <a:ext cx="1288719" cy="278892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92440" y="5138928"/>
            <a:ext cx="338328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092440" y="52303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 · IMPACTO</a:t>
            </a:r>
            <a:endParaRPr lang="en-US" sz="750" dirty="0"/>
          </a:p>
        </p:txBody>
      </p:sp>
      <p:sp>
        <p:nvSpPr>
          <p:cNvPr id="22" name="Text 17"/>
          <p:cNvSpPr txBox="1"/>
          <p:nvPr/>
        </p:nvSpPr>
        <p:spPr>
          <a:xfrm>
            <a:off x="8092440" y="54864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5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na rede oficial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8092440" y="581558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5 serviços — o mesmo número medido dos dois lados do balcão.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JÁ ESTÁ DE PÉ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677095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0820095" cy="0"/>
          </a:xfrm>
          <a:prstGeom prst="line">
            <a:avLst/>
          </a:prstGeom>
          <a:noFill/>
          <a:ln w="9525">
            <a:solidFill>
              <a:srgbClr val="2A43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969264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que está neste pitch</a:t>
            </a:r>
            <a:endParaRPr lang="en-US" sz="3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4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está rodando.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4747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-2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572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 verdes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72968" y="3520440"/>
            <a:ext cx="0" cy="1371600"/>
          </a:xfrm>
          <a:prstGeom prst="line">
            <a:avLst/>
          </a:prstGeom>
          <a:noFill/>
          <a:ln w="9525">
            <a:solidFill>
              <a:srgbClr val="2A43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83864" y="34747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-2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5800" dirty="0"/>
          </a:p>
        </p:txBody>
      </p:sp>
      <p:sp>
        <p:nvSpPr>
          <p:cNvPr id="10" name="Text 8"/>
          <p:cNvSpPr txBox="1"/>
          <p:nvPr/>
        </p:nvSpPr>
        <p:spPr>
          <a:xfrm>
            <a:off x="3483864" y="4572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cobertura de código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71032" y="3520440"/>
            <a:ext cx="0" cy="1371600"/>
          </a:xfrm>
          <a:prstGeom prst="line">
            <a:avLst/>
          </a:prstGeom>
          <a:noFill/>
          <a:ln w="9525">
            <a:solidFill>
              <a:srgbClr val="2A43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81928" y="34747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-2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580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4572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documentadas no README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69096" y="3520440"/>
            <a:ext cx="0" cy="1371600"/>
          </a:xfrm>
          <a:prstGeom prst="line">
            <a:avLst/>
          </a:prstGeom>
          <a:noFill/>
          <a:ln w="9525">
            <a:solidFill>
              <a:srgbClr val="2A43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79992" y="34747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-2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5800" dirty="0"/>
          </a:p>
        </p:txBody>
      </p:sp>
      <p:sp>
        <p:nvSpPr>
          <p:cNvPr id="16" name="Text 14"/>
          <p:cNvSpPr txBox="1"/>
          <p:nvPr/>
        </p:nvSpPr>
        <p:spPr>
          <a:xfrm>
            <a:off x="9079992" y="4572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navegáveis no app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7278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NATIVE · EXPO SDK 51 · SUPABASE COM POSTGRES E ROW LEVEL SECURITY · BUILD ANDROID VIA EAS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 · O OUTRO LADO DO BALCÃO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677095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0820095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969264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ganha previsibilidade.</a:t>
            </a:r>
            <a:endParaRPr lang="en-US" sz="3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2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rede ganha agenda.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1284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cálculo que hoje avisa o motorista é, do outro lado, um lead qualificado. Nada disso exige um app novo — exige abrir para a concessionária o que o Copiloto já sabe.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063240"/>
            <a:ext cx="3200400" cy="0"/>
          </a:xfrm>
          <a:prstGeom prst="line">
            <a:avLst/>
          </a:prstGeom>
          <a:noFill/>
          <a:ln w="28575">
            <a:solidFill>
              <a:srgbClr val="133A7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1821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APP, HOJE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474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4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Copiloto detecta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877056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vencida há 35 dias, ritmo de 850 km por mês, mais um item pendente.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26280" y="3063240"/>
            <a:ext cx="3200400" cy="0"/>
          </a:xfrm>
          <a:prstGeom prst="line">
            <a:avLst/>
          </a:prstGeom>
          <a:noFill/>
          <a:ln w="28575">
            <a:solidFill>
              <a:srgbClr val="133A7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31821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APP, HOJE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474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4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aceita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877056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toque abre o agendamento com os serviços já pré-selecionados.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66760" y="3063240"/>
            <a:ext cx="3200400" cy="0"/>
          </a:xfrm>
          <a:prstGeom prst="line">
            <a:avLst/>
          </a:prstGeom>
          <a:noFill/>
          <a:ln w="28575">
            <a:solidFill>
              <a:srgbClr val="C8102E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8366760" y="31821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04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474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4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rede recebe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877056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com o motivo técnico junto, o VIN e o histórico contínuo — não um nome numa lista.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5029200"/>
            <a:ext cx="10820095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5138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O PAINEL DA CONCESSIONÁRIA MOSTRARIA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44982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3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da região com serviço previsto nas próximas semanas, ordenados por urgência.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544982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3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motivo técnico de cada lead, calculado — não um palpite de CRM.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544982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3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de VINs da carteira com histórico contínuo na rede.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PRÓXIMOS PASSOS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677095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0820095" cy="0"/>
          </a:xfrm>
          <a:prstGeom prst="line">
            <a:avLst/>
          </a:prstGeom>
          <a:noFill/>
          <a:ln w="9525">
            <a:solidFill>
              <a:srgbClr val="2A43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0820095" cy="0"/>
          </a:xfrm>
          <a:prstGeom prst="line">
            <a:avLst/>
          </a:prstGeom>
          <a:noFill/>
          <a:ln w="12700">
            <a:solidFill>
              <a:srgbClr val="2A43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13624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55064"/>
            <a:ext cx="233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01 · CONCLUÍDA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47672"/>
            <a:ext cx="233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31720"/>
            <a:ext cx="2293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App, agendamento, histórico e programa de pontos.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3100" y="1339596"/>
            <a:ext cx="155448" cy="1554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90824" y="1655064"/>
            <a:ext cx="233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FF8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02 · AGORA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3390824" y="1947672"/>
            <a:ext cx="233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390824" y="2331720"/>
            <a:ext cx="2293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Passaporte do VIN, Copiloto e lembrete proativo.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40984" y="13624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95848" y="1655064"/>
            <a:ext cx="233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03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095848" y="1947672"/>
            <a:ext cx="233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Copiloto que escreve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095848" y="2331720"/>
            <a:ext cx="2293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Redação em linguagem natural e transferência entre dono e comprador.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46007" y="13624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00871" y="1655064"/>
            <a:ext cx="233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04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800871" y="1947672"/>
            <a:ext cx="233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na rede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800871" y="2331720"/>
            <a:ext cx="2293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evasão por ML e painel de leads para a rede.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97764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600" b="1" spc="-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do que manutenção.</a:t>
            </a:r>
            <a:endParaRPr lang="en-US" sz="3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600" b="1" spc="-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relação que não termina na garantia.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272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FordCare · FIAP × Ford · 2026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9128455" y="6272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5E7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9BFZH54P8M8123456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9677095" y="310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0820095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96926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spc="-8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número deste pitch tem origem.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e frota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157984"/>
            <a:ext cx="338328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221992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Sindipeças / Abipeças — Relatório da Frota Circulante, ed. 2026 (base 2025): 48,8 milhões de autoveículos, sendo 39,5 mi de automóveis e 6,6 mi de comerciais leves. Idade média de 11 anos; 11 anos e 5 meses para automóveis.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2889504"/>
            <a:ext cx="338328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953512"/>
            <a:ext cx="331012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Fenabrave — 2024: 11,7 milhões de automóveis e comerciais leves usados transacionados contra 2,5 milhões de emplacamentos de zero quilômetro.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3488436"/>
            <a:ext cx="338328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552444"/>
            <a:ext cx="33101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Fenauto — 2025: 18,5 milhões de veículos usados vendidos, recorde da série.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Pós-venda e retenção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2157984"/>
            <a:ext cx="338328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221992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— 2023: 83% dos clientes com boa experiência em serviços comprariam outro veículo da marca; 80% trocam de concessionária por experiência melhor. Citado pela Ford no briefing.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89120" y="2889504"/>
            <a:ext cx="338328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2953512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Automotive — Service Industry Study 2025 (EUA): retenção de 72% para 54% entre 2023 e 2025 em veículos de até dois anos; 74% de quem faz serviço na concessionária compra o próximo carro lá.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89120" y="3621024"/>
            <a:ext cx="338328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0" y="3685032"/>
            <a:ext cx="33101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Sindirepa-SP — 2025: 118 mil oficinas independentes atendem cerca de 80% da frota brasileira.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 no Brasil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92440" y="2157984"/>
            <a:ext cx="338328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92440" y="2221992"/>
            <a:ext cx="33101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Brasil — dezembro de 2025: 140 concessionárias no país. Produção local encerrada em 2021.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092440" y="2624328"/>
            <a:ext cx="338328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92440" y="2688336"/>
            <a:ext cx="331012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Fraga Inteligência Automotiva — 2021: cerca de 10% da frota de veículos leves do país era da marca Ford. Estimativa de consultoria.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4069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Cálculos próprios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4398264"/>
            <a:ext cx="338328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4462272"/>
            <a:ext cx="33101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 usados para cada zero quilômetro — razão entre os dois números da Fenabrave de 2024, mesmo recorte de segmento.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" y="4864608"/>
            <a:ext cx="338328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928616"/>
            <a:ext cx="331012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em cada 4 veículos muda de dono por ano — transações de automóveis e comerciais leves da Fenabrave sobre a frota do mesmo recorte no Sindipeças.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389120" y="4069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do próprio app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89120" y="4398264"/>
            <a:ext cx="338328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389120" y="4462272"/>
            <a:ext cx="331012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Quilometragem, ritmo de uso, dias de atraso, percentual na rede oficial e pontos: calculados em utils/copiloto.ts e utils/vin.ts a partir do histórico do veículo.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89120" y="4997196"/>
            <a:ext cx="338328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89120" y="5061204"/>
            <a:ext cx="33101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testes, 91% de cobertura, 22 telas e 16 rotas: medidos na base em setembro de 2026.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8092440" y="4069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133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Ressalvas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092440" y="4398264"/>
            <a:ext cx="338328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92440" y="4462272"/>
            <a:ext cx="331012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de retenção da Cox é norte-americana. Não há estudo brasileiro equivalente publicado — entra como evidência do mecanismo, não do tamanho no Brasil.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092440" y="4997196"/>
            <a:ext cx="338328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92440" y="5061204"/>
            <a:ext cx="33101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frota Ford é estimativa de consultoria de 2021, não dado oficial: o Sindipeças não segmenta a frota por marca.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FordCare Pitch</dc:title>
  <dc:subject>PptxGenJS Presentation</dc:subject>
  <dc:creator>FordCare — FIAP x Ford</dc:creator>
  <cp:lastModifiedBy>FordCare — FIAP x Ford</cp:lastModifiedBy>
  <cp:revision>1</cp:revision>
  <dcterms:created xsi:type="dcterms:W3CDTF">2026-09-12T02:45:38Z</dcterms:created>
  <dcterms:modified xsi:type="dcterms:W3CDTF">2026-09-12T02:45:38Z</dcterms:modified>
</cp:coreProperties>
</file>